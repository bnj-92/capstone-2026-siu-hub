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56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Amanda. 0:00 a 0:20. Buenos días. Somos el equipo SIU Hub y trabajamos el Desafío 01, caracterización de usuarios del Hub Providencia. Nuestra propuesta se llama Hub Pass. No leer la bajada completa, solo nombrarla y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Amanda. 0:20 a 0:50. Esta es la frase con la que abrimos. Decirla despacio y dejar un segundo de silencio después. Los cuatro: Luma, BIForm, planillas Excel y un cuaderno en papel que vimos nosotros en el segundo piso y que no nos habían mencionado. El problema no es que el Hub no registre. Es que registra en cuatro lugares que no se hablan entre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Amanda. 0:50 a 1:50. Los cuatro números, rápido. No leerlos todos: destacar el cero de salidas y los nueve campos. Cierre de la parte: el problema lo sufren dos. El equipo de gestión, que decide a ciegas, y el visitante, al que le piden lo mismo cada vez. Pasar la palabra a Gerzon.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Gerzon. 1:50 a 2:40. Tres partes, una frase cada una. No entrar en detalle técnico todavía. Si preguntan por qué web y no app: publicar en las tiendas tiene costo anual, el visitante ocasional no instala nada, y una sola versión funciona en Android, iPhone y computador.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Gerzon. 2:40 a 3:30. El detalle que conviene destacar: es un solo QR para entrar y salir, no dos. El sistema decide cuál corresponde. Y mencionar el RUT: nadie queda fuera por no tener celular. Pasar la palabra a Benjamín.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Benjamín. 3:30 a 4:40. Esta es la lámina que la profe pidió ver. No recitar los números: explicar qué decisión permite cada uno. Personas dentro ahora: dotación de personal y aforo. Flujo por hora: cuándo programar las charlas. El peak naranjo es de 11 a 14. Recurrentes: si el Hub fideliza o no. Perfil: con qué público está hablando. Decir claramente que son cifras de ejemplo, no datos reales del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Benjamín. 4:40 a 5:15. No leer la tabla entera. Decir dos o tres filas y rematar con la frase de abajo, que es la que importa: no agregamos un quinto registro, reemplazamos los cuatro. Sigue con la lámina de mercado, que la dices tú también.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Benjamín. 5:15 a 5:55. Esta lámina responde al criterio de innovación de la rúbrica, que pide demostrar mejoras frente a las alternativas existentes. No leer la tabla entera. Decir: analizamos cinco, todas resuelven registrar, ninguna resuelve consolidar. Y rematar con la frase de abajo, que es la clave: la innovación no es el QR, es el enrolamiento único. Pasar la palabra a Valentina.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Valentina. 5:55 a 6:55. Esta es la parte que la profe dijo que nos faltaba, así que es la que hay que decir con más convicción. Abrir con: construir el sistema es la parte fácil; lo difícil es que la gente lo use. El punto 2 es el que responde a nuestra mayor debilidad, que es que la gente no marque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Valentina. 6:55 a 7:35. Esta lámina responde directo a lo que nos dijeron la clase pasada. Decirlo con seguridad, no a la defensiva. La idea: lo que parecía una objeción es en realidad el mejor argumento para enrolamiento único. Y además convierte la recurrencia en un indicador de gestión. Pasar la palabra a Josué.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Josué. 7:35 a 8:15. El mensaje central: el software no cuesta nada y el hardware tampoco si reutilizan un equipo. Lo único que cuesta son los folletos. Cerrar nombrando las tres carreras, porque eso responde a lo que pidió la profe sobre que el proyecto integre a todo 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Josué. 8:15 a 8:55. Esta lámina cubre el criterio de viabilidad e implementación: etapas, responsabilidades y coordinación. No leer la tabla fila por fila. Decir que el orden va de lo que bloquea a todo el resto, que es el modelo de datos, hacia lo que se suma después. La frase de abajo nombra el riesgo de equipo, que la rúbrica también 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Josué. 8:55 a 9:35. Las tres mediciones, una frase cada una. Destacar la tercera: reconocer abiertamente cuál es nuestro supuesto más frágil deja mejor impresión que esconderlo. Y la línea de abajo es importante: es un prototipo, no dependemos de permisos ni de que el Hub lo instale. Pasar la palabra a Amanda para 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Amanda. 9:35 a 10:00. Cierre corto. Decir la frase grande, dejar un segundo, y después la bajada. Terminar con: quedamos atentos a sus preguntas. No agregar nada más: si sobra tiempo es mejor que falte.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3843"/>
            <a:ext cx="10566400" cy="52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764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764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2320"/>
            <a:ext cx="10566400" cy="407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3843"/>
            <a:ext cx="10566400" cy="52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764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764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2320"/>
            <a:ext cx="10566400" cy="407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6127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 01 · EDIFICIOS INTELIGENTES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6411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Pass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3834110"/>
            <a:ext cx="8371840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3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registro único para saber quién usa el Hub Providencia, cuánto se queda y cuándo vuelve.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12800" y="62205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Equipo S.I.U HUB · Amanda Parraguez · Benjamín Oliva · Gerzon Toro · Josué Villa · Valentina Zapata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46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0231"/>
            <a:ext cx="10464800" cy="216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Hub Providencia registra a sus visitantes en cuatro lugares distintos.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4294584"/>
            <a:ext cx="10883392" cy="73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FB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guarda la salida.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LEVANTAMOS EN TERRENO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3397"/>
            <a:ext cx="10883392" cy="551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7"/>
              </a:lnSpc>
              <a:buNone/>
            </a:pPr>
            <a:r>
              <a:rPr lang="en-US" sz="3788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Hub no sabe quién lo usa</a:t>
            </a:r>
            <a:endParaRPr lang="en-US" sz="3788" dirty="0"/>
          </a:p>
        </p:txBody>
      </p:sp>
      <p:sp>
        <p:nvSpPr>
          <p:cNvPr id="4" name="Shape 2"/>
          <p:cNvSpPr/>
          <p:nvPr/>
        </p:nvSpPr>
        <p:spPr>
          <a:xfrm>
            <a:off x="815975" y="2028130"/>
            <a:ext cx="2501900" cy="28907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285305"/>
            <a:ext cx="2047176" cy="1362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7"/>
              </a:lnSpc>
              <a:buNone/>
            </a:pPr>
            <a:r>
              <a:rPr lang="en-US" sz="3776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a 300</a:t>
            </a:r>
            <a:endParaRPr lang="en-US" sz="3776" dirty="0"/>
          </a:p>
        </p:txBody>
      </p:sp>
      <p:sp>
        <p:nvSpPr>
          <p:cNvPr id="6" name="Text 4"/>
          <p:cNvSpPr/>
          <p:nvPr/>
        </p:nvSpPr>
        <p:spPr>
          <a:xfrm>
            <a:off x="1073150" y="3711476"/>
            <a:ext cx="2047176" cy="97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8"/>
              </a:lnSpc>
              <a:buNone/>
            </a:pPr>
            <a:r>
              <a:rPr lang="en-US" sz="1391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personas circulan por el edificio, pero no existe una cifra exacta por día</a:t>
            </a:r>
            <a:endParaRPr lang="en-US" sz="1391" dirty="0"/>
          </a:p>
        </p:txBody>
      </p:sp>
      <p:sp>
        <p:nvSpPr>
          <p:cNvPr id="7" name="Shape 5"/>
          <p:cNvSpPr/>
          <p:nvPr/>
        </p:nvSpPr>
        <p:spPr>
          <a:xfrm>
            <a:off x="3502025" y="2028130"/>
            <a:ext cx="2501900" cy="28907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59200" y="2285305"/>
            <a:ext cx="204717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320"/>
              </a:lnSpc>
              <a:buNone/>
            </a:pPr>
            <a:r>
              <a:rPr lang="en-US" sz="38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59200" y="3049786"/>
            <a:ext cx="2047176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formatos de registro en paralelo, sin criterios comunes entre departamentos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8075" y="2028130"/>
            <a:ext cx="2501900" cy="28907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5250" y="2285305"/>
            <a:ext cx="204717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320"/>
              </a:lnSpc>
              <a:buNone/>
            </a:pPr>
            <a:r>
              <a:rPr lang="en-US" sz="38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45250" y="3049786"/>
            <a:ext cx="2047176" cy="1225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registros de salida, por lo que no se puede medir permanencia ni ocupación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74125" y="2028130"/>
            <a:ext cx="2501900" cy="28907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31300" y="2285305"/>
            <a:ext cx="204717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320"/>
              </a:lnSpc>
              <a:buNone/>
            </a:pPr>
            <a:r>
              <a:rPr lang="en-US" sz="38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31300" y="3049786"/>
            <a:ext cx="2047176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campos que la persona vuelve a llenar en cada visita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5277644"/>
            <a:ext cx="9810750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159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Quien lo sufre es el equipo de gestión: planifica actividades, servicios y personal sin cifras propias. Y lo sufre el visitante, que entrega los mismos datos una y otra vez.</a:t>
            </a:r>
            <a:endParaRPr lang="en-US" sz="1595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3130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57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Levantamiento en terreno · visitas del 25 de agosto y del 6 de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8754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PROPUESTA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45630"/>
            <a:ext cx="10595610" cy="1170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510"/>
              </a:lnSpc>
              <a:buNone/>
            </a:pPr>
            <a:r>
              <a:rPr lang="en-US" sz="4100" b="1" i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web donde la persona entrega sus datos </a:t>
            </a:r>
            <a:r>
              <a:rPr lang="en-US" sz="4100" b="1" i="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vez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812800" y="3046611"/>
            <a:ext cx="3403600" cy="1734741"/>
          </a:xfrm>
          <a:prstGeom prst="roundRect">
            <a:avLst>
              <a:gd name="adj" fmla="val 5857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2200" y="3326011"/>
            <a:ext cx="293014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Enrolamiento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200" y="3701852"/>
            <a:ext cx="29301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registra una vez y queda en la base de datos. Nunca más llena un formulario.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94200" y="3046611"/>
            <a:ext cx="3403600" cy="1734741"/>
          </a:xfrm>
          <a:prstGeom prst="roundRect">
            <a:avLst>
              <a:gd name="adj" fmla="val 5857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73600" y="3326011"/>
            <a:ext cx="293014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personal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73600" y="3701852"/>
            <a:ext cx="29301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muestra al entrar y al salir. Recepción lo escanea desde el navegador.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75600" y="3046611"/>
            <a:ext cx="3403600" cy="1734741"/>
          </a:xfrm>
          <a:prstGeom prst="roundRect">
            <a:avLst>
              <a:gd name="adj" fmla="val 5857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55000" y="3326011"/>
            <a:ext cx="293014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5000" y="3701852"/>
            <a:ext cx="29301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Hub ve en una pantalla quién usa el edificio, cuándo y por cuánto tiempo.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5136952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 web y no una aplicación descargable: nadie instala una app para entrar a un edificio, y funciona igual en cualquier teléfono o computador.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8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pasos, y el tercero se repite solo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544068"/>
            <a:ext cx="2212975" cy="1861245"/>
          </a:xfrm>
          <a:prstGeom prst="roundRect">
            <a:avLst>
              <a:gd name="adj" fmla="val 5288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775843"/>
            <a:ext cx="18019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3131443"/>
            <a:ext cx="180190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enrola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7750" y="3479403"/>
            <a:ext cx="1801908" cy="719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vez en su vida, desde su propio celular</a:t>
            </a:r>
            <a:endParaRPr lang="en-US" sz="135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3725" y="3385741"/>
            <a:ext cx="3556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94100" y="2659757"/>
            <a:ext cx="2212975" cy="1629866"/>
          </a:xfrm>
          <a:prstGeom prst="roundRect">
            <a:avLst>
              <a:gd name="adj" fmla="val 6039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25875" y="2891532"/>
            <a:ext cx="18019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825875" y="3247132"/>
            <a:ext cx="180190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su QR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825875" y="3595092"/>
            <a:ext cx="1801908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Queda en la web, siempre disponible</a:t>
            </a:r>
            <a:endParaRPr lang="en-US" sz="135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1850" y="3385741"/>
            <a:ext cx="3556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75400" y="2656582"/>
            <a:ext cx="2219325" cy="1636216"/>
          </a:xfrm>
          <a:prstGeom prst="roundRect">
            <a:avLst>
              <a:gd name="adj" fmla="val 5821"/>
            </a:avLst>
          </a:prstGeom>
          <a:solidFill>
            <a:srgbClr val="FFF4EF"/>
          </a:solidFill>
          <a:ln w="12700">
            <a:solidFill>
              <a:srgbClr val="D465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610350" y="2891532"/>
            <a:ext cx="18019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10350" y="3247132"/>
            <a:ext cx="180190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muestra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610350" y="3595092"/>
            <a:ext cx="1801908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 entrar y al salir. Recepción escanea</a:t>
            </a:r>
            <a:endParaRPr lang="en-US" sz="135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02675" y="3385741"/>
            <a:ext cx="3556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63050" y="2659757"/>
            <a:ext cx="2212975" cy="1629866"/>
          </a:xfrm>
          <a:prstGeom prst="roundRect">
            <a:avLst>
              <a:gd name="adj" fmla="val 6039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9394825" y="2891532"/>
            <a:ext cx="18019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394825" y="3247132"/>
            <a:ext cx="180190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Hub ve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394825" y="3595092"/>
            <a:ext cx="1801908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Los datos llegan solos al dashboard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12800" y="5273080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Los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escaneos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se van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alternando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: uno es entrada, el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siguiente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es salida. El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sistema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no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necesita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saber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dónde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estás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, solo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mira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cuál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</a:t>
            </a:r>
            <a:r>
              <a:rPr lang="en-US" sz="1700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fue</a:t>
            </a: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el anterior.</a:t>
            </a:r>
          </a:p>
        </p:txBody>
      </p:sp>
      <p:sp>
        <p:nvSpPr>
          <p:cNvPr id="24" name="Text 19"/>
          <p:cNvSpPr/>
          <p:nvPr/>
        </p:nvSpPr>
        <p:spPr>
          <a:xfrm>
            <a:off x="812800" y="6238280"/>
            <a:ext cx="69026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57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Quien no tenga teléfono puede ser buscado en recepción tecleando su RUT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EL EQUIPO DEL HUB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168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pantalla, cinco decisiones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92461"/>
            <a:ext cx="2374900" cy="1297880"/>
          </a:xfrm>
          <a:prstGeom prst="roundRect">
            <a:avLst>
              <a:gd name="adj" fmla="val 6850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1795661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Personas dentro ahora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047081"/>
            <a:ext cx="202755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340100" y="1592461"/>
            <a:ext cx="2374900" cy="1297880"/>
          </a:xfrm>
          <a:prstGeom prst="roundRect">
            <a:avLst>
              <a:gd name="adj" fmla="val 6850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3300" y="1795661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Permanencia promedio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43300" y="2047081"/>
            <a:ext cx="202755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10m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867400" y="1592461"/>
            <a:ext cx="2374900" cy="1297880"/>
          </a:xfrm>
          <a:prstGeom prst="roundRect">
            <a:avLst>
              <a:gd name="adj" fmla="val 6850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70600" y="1795661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Recurrentes hoy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70600" y="2047081"/>
            <a:ext cx="202755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12800" y="3042741"/>
            <a:ext cx="7429500" cy="2438301"/>
          </a:xfrm>
          <a:prstGeom prst="roundRect">
            <a:avLst>
              <a:gd name="adj" fmla="val 3646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000" y="3245941"/>
            <a:ext cx="72337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Flujo de personas por hora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16000" y="4594622"/>
            <a:ext cx="622300" cy="342900"/>
          </a:xfrm>
          <a:prstGeom prst="roundRect">
            <a:avLst>
              <a:gd name="adj" fmla="val 11111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27200" y="4099322"/>
            <a:ext cx="622300" cy="838200"/>
          </a:xfrm>
          <a:prstGeom prst="roundRect">
            <a:avLst>
              <a:gd name="adj" fmla="val 6122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38400" y="3756422"/>
            <a:ext cx="622300" cy="1181100"/>
          </a:xfrm>
          <a:prstGeom prst="roundRect">
            <a:avLst>
              <a:gd name="adj" fmla="val 6122"/>
            </a:avLst>
          </a:prstGeom>
          <a:solidFill>
            <a:srgbClr val="D4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49600" y="3667522"/>
            <a:ext cx="622300" cy="1270000"/>
          </a:xfrm>
          <a:prstGeom prst="roundRect">
            <a:avLst>
              <a:gd name="adj" fmla="val 6122"/>
            </a:avLst>
          </a:prstGeom>
          <a:solidFill>
            <a:srgbClr val="D4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60800" y="3870722"/>
            <a:ext cx="622300" cy="1066800"/>
          </a:xfrm>
          <a:prstGeom prst="roundRect">
            <a:avLst>
              <a:gd name="adj" fmla="val 6122"/>
            </a:avLst>
          </a:prstGeom>
          <a:solidFill>
            <a:srgbClr val="D4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4048522"/>
            <a:ext cx="622300" cy="889000"/>
          </a:xfrm>
          <a:prstGeom prst="roundRect">
            <a:avLst>
              <a:gd name="adj" fmla="val 6122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83200" y="4327922"/>
            <a:ext cx="622300" cy="609600"/>
          </a:xfrm>
          <a:prstGeom prst="roundRect">
            <a:avLst>
              <a:gd name="adj" fmla="val 6250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94400" y="4480322"/>
            <a:ext cx="622300" cy="457200"/>
          </a:xfrm>
          <a:prstGeom prst="roundRect">
            <a:avLst>
              <a:gd name="adj" fmla="val 8333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05600" y="4658122"/>
            <a:ext cx="622300" cy="279400"/>
          </a:xfrm>
          <a:prstGeom prst="roundRect">
            <a:avLst>
              <a:gd name="adj" fmla="val 13636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16800" y="4747022"/>
            <a:ext cx="622300" cy="190500"/>
          </a:xfrm>
          <a:prstGeom prst="roundRect">
            <a:avLst>
              <a:gd name="adj" fmla="val 20000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06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18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130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242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354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466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690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802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91400" y="5064522"/>
            <a:ext cx="673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94700" y="1592461"/>
            <a:ext cx="2984500" cy="3888581"/>
          </a:xfrm>
          <a:prstGeom prst="roundRect">
            <a:avLst>
              <a:gd name="adj" fmla="val 2979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97900" y="1795661"/>
            <a:ext cx="26554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Perfil de quienes asisten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7900" y="2141041"/>
            <a:ext cx="26554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Comuna de Providencia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97900" y="2422922"/>
            <a:ext cx="1968500" cy="101600"/>
          </a:xfrm>
          <a:prstGeom prst="roundRect">
            <a:avLst>
              <a:gd name="adj" fmla="val 50000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97900" y="2638822"/>
            <a:ext cx="26554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Otras comunas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597900" y="2920702"/>
            <a:ext cx="1143000" cy="101600"/>
          </a:xfrm>
          <a:prstGeom prst="roundRect">
            <a:avLst>
              <a:gd name="adj" fmla="val 50000"/>
            </a:avLst>
          </a:prstGeom>
          <a:solidFill>
            <a:srgbClr val="2A6B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97900" y="3136602"/>
            <a:ext cx="26554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Sector privado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97900" y="3418483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D4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97900" y="3634383"/>
            <a:ext cx="26554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Academia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97900" y="3916263"/>
            <a:ext cx="952500" cy="101600"/>
          </a:xfrm>
          <a:prstGeom prst="roundRect">
            <a:avLst>
              <a:gd name="adj" fmla="val 50000"/>
            </a:avLst>
          </a:prstGeom>
          <a:solidFill>
            <a:srgbClr val="D4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97900" y="4132163"/>
            <a:ext cx="26554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Sociedad civil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97900" y="4414044"/>
            <a:ext cx="609600" cy="101600"/>
          </a:xfrm>
          <a:prstGeom prst="roundRect">
            <a:avLst>
              <a:gd name="adj" fmla="val 50000"/>
            </a:avLst>
          </a:prstGeom>
          <a:solidFill>
            <a:srgbClr val="D4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Cifras de ejemplo. Cada número responde a una decisión: cuánto personal, a qué hora programar una charla, si se está llegando a público nuevo.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8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cuatro registros sueltos a uno solo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2150666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150" y="2144316"/>
            <a:ext cx="0" cy="2927548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0600" y="2296716"/>
          <a:ext cx="10223500" cy="2635446"/>
        </p:xfrm>
        <a:graphic>
          <a:graphicData uri="http://schemas.openxmlformats.org/drawingml/2006/table">
            <a:tbl>
              <a:tblPr/>
              <a:tblGrid>
                <a:gridCol w="511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Hoy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Hub Pass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Nueve campos en cada visita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Los datos se entregan una sola vez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Cuatro formatos de registro en paralelo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sola base de datos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se registra la entrada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 registra entrada y salida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 se sabe quién vuelve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 distingue visitante nuevo de recurrente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Los datos se consolidan a mano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Los indicadores se calculan solos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539780"/>
            <a:ext cx="1020318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agregamos un quinto registro. Reemplazamos los cuatro por uno.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4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 LA INNOVACIÓN</a:t>
            </a:r>
            <a:endParaRPr lang="en-US" sz="1231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3078"/>
            <a:ext cx="10883392" cy="97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62"/>
              </a:lnSpc>
              <a:buNone/>
            </a:pPr>
            <a:r>
              <a:rPr lang="en-US" sz="3420" b="1" i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Analizamos cinco soluciones. Ninguna resuelve lo mismo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>
            <a:off x="812800" y="2371030"/>
            <a:ext cx="10566400" cy="0"/>
          </a:xfrm>
          <a:prstGeom prst="line">
            <a:avLst/>
          </a:prstGeom>
          <a:noFill/>
          <a:ln w="12700">
            <a:solidFill>
              <a:srgbClr val="FAF9F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150" y="2364680"/>
            <a:ext cx="0" cy="2366665"/>
          </a:xfrm>
          <a:prstGeom prst="line">
            <a:avLst/>
          </a:prstGeom>
          <a:noFill/>
          <a:ln w="12700">
            <a:solidFill>
              <a:srgbClr val="FAF9F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200" y="2491680"/>
          <a:ext cx="10274300" cy="2127054"/>
        </p:xfrm>
        <a:graphic>
          <a:graphicData uri="http://schemas.openxmlformats.org/drawingml/2006/table">
            <a:tbl>
              <a:tblPr/>
              <a:tblGrid>
                <a:gridCol w="287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6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509"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b="1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Solución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9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b="1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Quién la usa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9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b="1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Qué no resuelve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9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509"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Formulario QR actual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Hub Providencia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Identidad persistente, salida, consolidación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6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509"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Reserva de salas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Work Café Santander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Caracterización de quien usa el espacio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509"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GeoVictoria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Empresas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Costo de licencia; orientado a control laboral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509"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Cámaras con IA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Avigilon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Costo elevado; trata datos sensibles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509"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Reconocimiento facial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Universidad Mayor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95"/>
                        </a:lnSpc>
                        <a:buNone/>
                      </a:pPr>
                      <a:r>
                        <a:rPr lang="en-US" sz="1283" dirty="0">
                          <a:solidFill>
                            <a:srgbClr val="F6F5F1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Costo de hardware; datos biométricos</a:t>
                      </a:r>
                      <a:endParaRPr lang="en-US" sz="1283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007" marR="57007" marT="57007" marB="57007">
                    <a:lnL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010745"/>
            <a:ext cx="10464800" cy="8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9"/>
              </a:lnSpc>
              <a:buNone/>
            </a:pPr>
            <a:r>
              <a:rPr lang="en-US" sz="1673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Nuestra innovación no es el QR, que existe hace años. Es el </a:t>
            </a:r>
            <a:r>
              <a:rPr lang="en-US" sz="1673" dirty="0">
                <a:solidFill>
                  <a:srgbClr val="D4653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enrolamiento único</a:t>
            </a:r>
            <a:r>
              <a:rPr lang="en-US" sz="1673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una identidad persistente que reemplaza cuatro registros paralelos por uno, sin costo y sin biometría.</a:t>
            </a:r>
            <a:endParaRPr lang="en-US" sz="167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19"/>
              </a:lnSpc>
              <a:buNone/>
            </a:pPr>
            <a:r>
              <a:rPr lang="en-US" sz="942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DIFÍCIL NO ES CONSTRUIRLO</a:t>
            </a:r>
            <a:endParaRPr lang="en-US" sz="942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0889"/>
            <a:ext cx="10883392" cy="407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17"/>
              </a:lnSpc>
              <a:buNone/>
            </a:pPr>
            <a:r>
              <a:rPr lang="en-US" sz="2743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logramos que la gente lo use</a:t>
            </a:r>
            <a:endParaRPr lang="en-US" sz="2743" dirty="0"/>
          </a:p>
        </p:txBody>
      </p:sp>
      <p:sp>
        <p:nvSpPr>
          <p:cNvPr id="4" name="Shape 2"/>
          <p:cNvSpPr/>
          <p:nvPr/>
        </p:nvSpPr>
        <p:spPr>
          <a:xfrm>
            <a:off x="837438" y="1720285"/>
            <a:ext cx="10560050" cy="899120"/>
          </a:xfrm>
          <a:prstGeom prst="roundRect">
            <a:avLst>
              <a:gd name="adj" fmla="val 10947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1990427"/>
            <a:ext cx="4064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85900" y="1763117"/>
            <a:ext cx="9797669" cy="87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Enrolamiento desde la página oficial del Hub.</a:t>
            </a:r>
            <a:r>
              <a:rPr lang="en-US" sz="165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en-US" sz="16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Partimos con una web de prueba nuestra; lo ideal es que después quede conectada al sitio del Hub, y la persona llegue enrolada antes de pisar el edificio.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19150" y="2806998"/>
            <a:ext cx="10553700" cy="751880"/>
          </a:xfrm>
          <a:prstGeom prst="roundRect">
            <a:avLst>
              <a:gd name="adj" fmla="val 12668"/>
            </a:avLst>
          </a:prstGeom>
          <a:solidFill>
            <a:srgbClr val="FFF4EF"/>
          </a:solidFill>
          <a:ln w="12700">
            <a:solidFill>
              <a:srgbClr val="D465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9500" y="3029248"/>
            <a:ext cx="4064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79550" y="2883015"/>
            <a:ext cx="9784588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Folletos y señalética en la salida.</a:t>
            </a:r>
            <a:r>
              <a:rPr lang="en-US" sz="165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en-US" sz="16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salida no se resuelve con tecnología sino con comunicación: hay que recordarle a la persona que marque antes de irse.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15975" y="3695402"/>
            <a:ext cx="10560050" cy="745430"/>
          </a:xfrm>
          <a:prstGeom prst="roundRect">
            <a:avLst>
              <a:gd name="adj" fmla="val 1320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3150" y="3914477"/>
            <a:ext cx="4064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5900" y="3777953"/>
            <a:ext cx="979766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Recepción pide el QR al salir.</a:t>
            </a:r>
            <a:r>
              <a:rPr lang="en-US" sz="165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en-US" sz="16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 un gesto, no un trámite. Toma segundos, mucho menos que llenar nueve campos.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15975" y="4574183"/>
            <a:ext cx="10560050" cy="745530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3150" y="4793258"/>
            <a:ext cx="4064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5900" y="4661495"/>
            <a:ext cx="979766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Correos automáticos.</a:t>
            </a:r>
            <a:r>
              <a:rPr lang="en-US" sz="165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r>
              <a:rPr lang="en-US" sz="16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Hoy el Hub no tiene ningún canal automatizado. El sistema confirma el enrolamiento y recuerda las charlas.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12800" y="5627688"/>
            <a:ext cx="1020318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2"/>
              </a:lnSpc>
              <a:buNone/>
            </a:pPr>
            <a:r>
              <a:rPr lang="en-US" sz="123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 la persona gana algo a cambio: ve su propio historial y cuánto tiempo pasa en el Hub.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6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0099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BF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HICIERON VER ALGO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11474"/>
            <a:ext cx="10595610" cy="1220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04"/>
              </a:lnSpc>
              <a:buNone/>
            </a:pPr>
            <a:r>
              <a:rPr lang="en-US" sz="4200" b="1" i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 Hub va siempre la misma gente.” Eso juega a nuestro favor.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2800" y="3585666"/>
            <a:ext cx="5181600" cy="1671241"/>
          </a:xfrm>
          <a:prstGeom prst="roundRect">
            <a:avLst>
              <a:gd name="adj" fmla="val 6079"/>
            </a:avLst>
          </a:prstGeom>
          <a:solidFill>
            <a:srgbClr val="235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3839666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son recurrentes, enrolar rinde más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4202807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FE0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Esa persona se registra una sola vez y no vuelve a llenar un formulario nunca. Mientras más vuelve, más ahorra.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6810" y="3585666"/>
            <a:ext cx="5181600" cy="1671241"/>
          </a:xfrm>
          <a:prstGeom prst="roundRect">
            <a:avLst>
              <a:gd name="adj" fmla="val 6079"/>
            </a:avLst>
          </a:prstGeom>
          <a:solidFill>
            <a:srgbClr val="235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51600" y="3839666"/>
            <a:ext cx="49276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 los datos lo confirman, es un hallazgo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1600" y="4202807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FE0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Significa que el Hub no está llegando a público nuevo. Hoy no lo pueden ver, porque nadie mide la recurrencia.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1413"/>
            <a:ext cx="10883392" cy="546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15"/>
              </a:lnSpc>
              <a:buNone/>
            </a:pPr>
            <a:r>
              <a:rPr lang="en-US" sz="3741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necesita para que funcione</a:t>
            </a:r>
            <a:endParaRPr lang="en-US" sz="3741" dirty="0"/>
          </a:p>
        </p:txBody>
      </p:sp>
      <p:sp>
        <p:nvSpPr>
          <p:cNvPr id="4" name="Shape 2"/>
          <p:cNvSpPr/>
          <p:nvPr/>
        </p:nvSpPr>
        <p:spPr>
          <a:xfrm>
            <a:off x="815975" y="1970782"/>
            <a:ext cx="3392984" cy="2723257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227957"/>
            <a:ext cx="296499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7501" y="2616498"/>
            <a:ext cx="294492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149" indent="-176149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Aplicación web y pantalla de escaneo</a:t>
            </a:r>
            <a:endParaRPr lang="en-US" sz="1450" dirty="0"/>
          </a:p>
          <a:p>
            <a:pPr marL="176149" indent="-176149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 de datos y API</a:t>
            </a:r>
            <a:endParaRPr lang="en-US" sz="1450" dirty="0"/>
          </a:p>
          <a:p>
            <a:pPr marL="176149" indent="-176149" algn="l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Dashboard de indicadores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73150" y="3835698"/>
            <a:ext cx="29649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en licencias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93109" y="1970782"/>
            <a:ext cx="3393083" cy="2723257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6350">
            <a:solidFill>
              <a:srgbClr val="DD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50284" y="2227957"/>
            <a:ext cx="2965095" cy="29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4807" y="2612330"/>
            <a:ext cx="2944856" cy="1385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976" indent="-175976" algn="l">
              <a:lnSpc>
                <a:spcPts val="2141"/>
              </a:lnSpc>
              <a:buSzPct val="100000"/>
              <a:buChar char="•"/>
            </a:pPr>
            <a:r>
              <a:rPr lang="en-US" sz="1427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dispositivo con cámara en recepción</a:t>
            </a:r>
            <a:endParaRPr lang="en-US" sz="1427" dirty="0"/>
          </a:p>
          <a:p>
            <a:pPr marL="175976" indent="-175976" algn="l">
              <a:lnSpc>
                <a:spcPts val="2141"/>
              </a:lnSpc>
              <a:buSzPct val="100000"/>
              <a:buChar char="•"/>
            </a:pPr>
            <a:r>
              <a:rPr lang="en-US" sz="1427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Sirve el computador que ya tienen</a:t>
            </a:r>
            <a:endParaRPr lang="en-US" sz="1427" dirty="0"/>
          </a:p>
          <a:p>
            <a:pPr marL="175976" indent="-175976" algn="l">
              <a:lnSpc>
                <a:spcPts val="2141"/>
              </a:lnSpc>
              <a:buSzPct val="100000"/>
              <a:buChar char="•"/>
            </a:pPr>
            <a:r>
              <a:rPr lang="en-US" sz="1427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Wi-Fi y enchufe del mesón</a:t>
            </a:r>
            <a:endParaRPr lang="en-US" sz="1427" dirty="0"/>
          </a:p>
        </p:txBody>
      </p:sp>
      <p:sp>
        <p:nvSpPr>
          <p:cNvPr id="11" name="Text 9"/>
          <p:cNvSpPr/>
          <p:nvPr/>
        </p:nvSpPr>
        <p:spPr>
          <a:xfrm>
            <a:off x="4650284" y="4086721"/>
            <a:ext cx="2965095" cy="375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74"/>
              </a:lnSpc>
              <a:buNone/>
            </a:pPr>
            <a:r>
              <a:rPr lang="en-US" sz="1981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si se reutiliza</a:t>
            </a:r>
            <a:endParaRPr lang="en-US" sz="1981" dirty="0"/>
          </a:p>
        </p:txBody>
      </p:sp>
      <p:sp>
        <p:nvSpPr>
          <p:cNvPr id="12" name="Shape 10"/>
          <p:cNvSpPr/>
          <p:nvPr/>
        </p:nvSpPr>
        <p:spPr>
          <a:xfrm>
            <a:off x="7973516" y="1973957"/>
            <a:ext cx="3399334" cy="2716907"/>
          </a:xfrm>
          <a:prstGeom prst="roundRect">
            <a:avLst>
              <a:gd name="adj" fmla="val 3506"/>
            </a:avLst>
          </a:prstGeom>
          <a:solidFill>
            <a:srgbClr val="FFF4EF"/>
          </a:solidFill>
          <a:ln w="12700">
            <a:solidFill>
              <a:srgbClr val="D465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33866" y="2234307"/>
            <a:ext cx="2964993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19"/>
              </a:lnSpc>
              <a:buNone/>
            </a:pPr>
            <a:r>
              <a:rPr lang="en-US" sz="1766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766" dirty="0"/>
          </a:p>
        </p:txBody>
      </p:sp>
      <p:sp>
        <p:nvSpPr>
          <p:cNvPr id="14" name="Text 12"/>
          <p:cNvSpPr/>
          <p:nvPr/>
        </p:nvSpPr>
        <p:spPr>
          <a:xfrm>
            <a:off x="8248425" y="2616895"/>
            <a:ext cx="2944719" cy="1376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942" indent="-175942" algn="l">
              <a:lnSpc>
                <a:spcPts val="2134"/>
              </a:lnSpc>
              <a:buSzPct val="100000"/>
              <a:buChar char="•"/>
            </a:pPr>
            <a:r>
              <a:rPr lang="en-US" sz="1423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Folletos y señalética de salida</a:t>
            </a:r>
            <a:endParaRPr lang="en-US" sz="1423" dirty="0"/>
          </a:p>
          <a:p>
            <a:pPr marL="175942" indent="-175942" algn="l">
              <a:lnSpc>
                <a:spcPts val="2134"/>
              </a:lnSpc>
              <a:buSzPct val="100000"/>
              <a:buChar char="•"/>
            </a:pPr>
            <a:r>
              <a:rPr lang="en-US" sz="1423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 el único ítem con costo real</a:t>
            </a:r>
            <a:endParaRPr lang="en-US" sz="1423" dirty="0"/>
          </a:p>
          <a:p>
            <a:pPr marL="175942" indent="-175942" algn="l">
              <a:lnSpc>
                <a:spcPts val="2134"/>
              </a:lnSpc>
              <a:buSzPct val="100000"/>
              <a:buChar char="•"/>
            </a:pPr>
            <a:r>
              <a:rPr lang="en-US" sz="1423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Impresión, a cotizar</a:t>
            </a:r>
            <a:endParaRPr lang="en-US" sz="1423" dirty="0"/>
          </a:p>
        </p:txBody>
      </p:sp>
      <p:sp>
        <p:nvSpPr>
          <p:cNvPr id="15" name="Text 13"/>
          <p:cNvSpPr/>
          <p:nvPr/>
        </p:nvSpPr>
        <p:spPr>
          <a:xfrm>
            <a:off x="8233866" y="4082554"/>
            <a:ext cx="2964993" cy="37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74"/>
              </a:lnSpc>
              <a:buNone/>
            </a:pPr>
            <a:r>
              <a:rPr lang="en-US" sz="1981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menor</a:t>
            </a:r>
            <a:endParaRPr lang="en-US" sz="1981" dirty="0"/>
          </a:p>
        </p:txBody>
      </p:sp>
      <p:sp>
        <p:nvSpPr>
          <p:cNvPr id="16" name="Text 14"/>
          <p:cNvSpPr/>
          <p:nvPr/>
        </p:nvSpPr>
        <p:spPr>
          <a:xfrm>
            <a:off x="812800" y="5002014"/>
            <a:ext cx="10203180" cy="865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Las tres carreras del equipo trabajan en esto: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Computación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: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aplicación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web, base de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datos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y dashboard.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Electrónica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: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comparación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de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tecnologías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de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identificación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y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definición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del punto de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escaneo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. Industrial: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rediseño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del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proceso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,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indicadores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 y </a:t>
            </a:r>
            <a:r>
              <a:rPr lang="en-US" sz="1575" dirty="0" err="1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pilotaje</a:t>
            </a:r>
            <a:r>
              <a:rPr lang="en-US" sz="1575" dirty="0">
                <a:solidFill>
                  <a:srgbClr val="4A5568"/>
                </a:solidFill>
                <a:latin typeface="Verdana" pitchFamily="34" charset="0"/>
                <a:ea typeface="Verdana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5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NOVIEMBRE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4290"/>
            <a:ext cx="10883392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semanas, un responsable por módulo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17068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150" y="2010718"/>
            <a:ext cx="0" cy="283656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88880"/>
              </p:ext>
            </p:extLst>
          </p:nvPr>
        </p:nvGraphicFramePr>
        <p:xfrm>
          <a:off x="965200" y="2131368"/>
          <a:ext cx="10274300" cy="2607962"/>
        </p:xfrm>
        <a:graphic>
          <a:graphicData uri="http://schemas.openxmlformats.org/drawingml/2006/table">
            <a:tbl>
              <a:tblPr/>
              <a:tblGrid>
                <a:gridCol w="143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Semana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Qué se construye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Responsable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Modelo de datos y base de datos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Gerzon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Enrolamiento y generación del QR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Benjamín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Pantalla de escaneo, entrada y salida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Gerzon y Josué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Dashboard, señalética y folletos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Amanda y Valentina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Prueba controlada y mediciones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Equipo completo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5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Análisis, manual de uso y documentación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Amanda y Valentina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022850"/>
            <a:ext cx="10464800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Nos coordinamos en la reunión de los lunes y todo queda registrado en la bitácora semanal del repositorio. El riesgo que más vigilamos es que el avance se concentre en pocos integrantes; por eso cada semana tiene responsable y evidencia.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PILOTAJE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8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F6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semanas, tres cosas que medir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2182515"/>
            <a:ext cx="3403600" cy="1922760"/>
          </a:xfrm>
          <a:prstGeom prst="roundRect">
            <a:avLst>
              <a:gd name="adj" fmla="val 5284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2436515"/>
            <a:ext cx="29824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Cuántos se enrolan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6800" y="2784475"/>
            <a:ext cx="298246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Nos dice si el enrolamiento inicial genera resistencia o pasa desapercibido.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94200" y="2182515"/>
            <a:ext cx="3403600" cy="1922760"/>
          </a:xfrm>
          <a:prstGeom prst="roundRect">
            <a:avLst>
              <a:gd name="adj" fmla="val 5284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48200" y="2436515"/>
            <a:ext cx="29824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demora el registro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48200" y="2784475"/>
            <a:ext cx="29824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Comparado con los nueve campos del formulario actual. Es la prueba de que no genera cola.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75600" y="2182515"/>
            <a:ext cx="3403600" cy="1922760"/>
          </a:xfrm>
          <a:prstGeom prst="roundRect">
            <a:avLst>
              <a:gd name="adj" fmla="val 5284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2436515"/>
            <a:ext cx="29824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46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Cuántos marcan salida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0" y="2784475"/>
            <a:ext cx="298246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 nuestro supuesto más frágil, y por eso lo medimos en vez de asumirlo.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4611489"/>
            <a:ext cx="10566400" cy="1230511"/>
          </a:xfrm>
          <a:prstGeom prst="roundRect">
            <a:avLst>
              <a:gd name="adj" fmla="val 8257"/>
            </a:avLst>
          </a:prstGeom>
          <a:solidFill>
            <a:srgbClr val="1E2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2200" y="4840089"/>
            <a:ext cx="3191764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Dónde.</a:t>
            </a:r>
            <a:r>
              <a:rPr lang="en-US" sz="145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Acceso del primer piso, la única entrada abierta al público.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6600" y="4840089"/>
            <a:ext cx="3191764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Cuándo.</a:t>
            </a:r>
            <a:r>
              <a:rPr lang="en-US" sz="145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 9 a 14, martes y jueves, que es cuando llega más gente.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01000" y="4840089"/>
            <a:ext cx="3191764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6F5F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quién.</a:t>
            </a:r>
            <a:r>
              <a:rPr lang="en-US" sz="1450" dirty="0">
                <a:solidFill>
                  <a:srgbClr val="AEBAC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Personas que acepten participar, con un dispositivo nuestro.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9B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que entregamos es un prototipo funcional. No instalamos nada en el edificio ni dependemos de que el Hub lo adopte.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46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809452"/>
            <a:ext cx="10595610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Hub ya registra. Lo que le falta es poder leer lo que registra.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405485"/>
            <a:ext cx="9679940" cy="146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dirty="0">
                <a:solidFill>
                  <a:srgbClr val="3A22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Hub Pass convierte cuatro registros sueltos en una sola base, le devuelve al visitante el tiempo que hoy pierde llenando formularios, y le entrega al equipo de gestión los números con los que hoy no cuenta.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2800" y="62205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C3A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Equipo S.I.U HUB · Desafío 01, Edificios Inteligentes · Capstone Intermedio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b Pass — Presentación Unidad 2">
  <a:themeElements>
    <a:clrScheme name="Hub Pass — Presentación Unidad 2">
      <a:dk1>
        <a:srgbClr val="16202A"/>
      </a:dk1>
      <a:lt1>
        <a:srgbClr val="F6F5F1"/>
      </a:lt1>
      <a:dk2>
        <a:srgbClr val="4E555C"/>
      </a:dk2>
      <a:lt2>
        <a:srgbClr val="E0E0DD"/>
      </a:lt2>
      <a:accent1>
        <a:srgbClr val="D4653F"/>
      </a:accent1>
      <a:accent2>
        <a:srgbClr val="2A6B7C"/>
      </a:accent2>
      <a:accent3>
        <a:srgbClr val="BFE0E6"/>
      </a:accent3>
      <a:accent4>
        <a:srgbClr val="235B6A"/>
      </a:accent4>
      <a:accent5>
        <a:srgbClr val="5C3A2B"/>
      </a:accent5>
      <a:accent6>
        <a:srgbClr val="8E9BA8"/>
      </a:accent6>
      <a:hlink>
        <a:srgbClr val="0563C1"/>
      </a:hlink>
      <a:folHlink>
        <a:srgbClr val="954F72"/>
      </a:folHlink>
    </a:clrScheme>
    <a:fontScheme name="Hub Pass — Presentación Unidad 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2207</Words>
  <Application>Microsoft Office PowerPoint</Application>
  <PresentationFormat>Panorámica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Verdana</vt:lpstr>
      <vt:lpstr>Hub Pass — Presentación Unidad 2</vt:lpstr>
      <vt:lpstr>Hub Pass</vt:lpstr>
      <vt:lpstr>Presentación de PowerPoint</vt:lpstr>
      <vt:lpstr>El Hub no sabe quién lo usa</vt:lpstr>
      <vt:lpstr>Una aplicación web donde la persona entrega sus datos una sola vez</vt:lpstr>
      <vt:lpstr>Cuatro pasos, y el tercero se repite solo</vt:lpstr>
      <vt:lpstr>Una sola pantalla, cinco decisiones</vt:lpstr>
      <vt:lpstr>De cuatro registros sueltos a uno solo</vt:lpstr>
      <vt:lpstr>Analizamos cinco soluciones. Ninguna resuelve lo mismo</vt:lpstr>
      <vt:lpstr>Cómo logramos que la gente lo use</vt:lpstr>
      <vt:lpstr>“Al Hub va siempre la misma gente.” Eso juega a nuestro favor.</vt:lpstr>
      <vt:lpstr>Qué se necesita para que funcione</vt:lpstr>
      <vt:lpstr>Seis semanas, un responsable por módulo</vt:lpstr>
      <vt:lpstr>Dos semanas, tres cosas que medir</vt:lpstr>
      <vt:lpstr>El Hub ya registra. Lo que le falta es poder leer lo que registra.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 Pass — Presentación Unidad 2</dc:title>
  <dc:subject/>
  <dc:creator>Pankunkezo 2025</dc:creator>
  <cp:lastModifiedBy>AMANDA IGNACIA DE JESÚS PARRAGUEZ ABATE</cp:lastModifiedBy>
  <cp:revision>3</cp:revision>
  <dcterms:created xsi:type="dcterms:W3CDTF">2026-10-26T23:16:05Z</dcterms:created>
  <dcterms:modified xsi:type="dcterms:W3CDTF">2026-10-27T00:03:47Z</dcterms:modified>
</cp:coreProperties>
</file>